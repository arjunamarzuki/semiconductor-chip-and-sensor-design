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4"/>
  </p:sldMasterIdLst>
  <p:notesMasterIdLst>
    <p:notesMasterId r:id="rId12"/>
  </p:notesMasterIdLst>
  <p:sldIdLst>
    <p:sldId id="256" r:id="rId5"/>
    <p:sldId id="896" r:id="rId6"/>
    <p:sldId id="868" r:id="rId7"/>
    <p:sldId id="865" r:id="rId8"/>
    <p:sldId id="871" r:id="rId9"/>
    <p:sldId id="973" r:id="rId10"/>
    <p:sldId id="258" r:id="rId11"/>
  </p:sldIdLst>
  <p:sldSz cx="18288000" cy="10287000"/>
  <p:notesSz cx="6858000" cy="9144000"/>
  <p:embeddedFontLst>
    <p:embeddedFont>
      <p:font typeface="Nunito" pitchFamily="2" charset="0"/>
      <p:regular r:id="rId13"/>
      <p:bold r:id="rId14"/>
      <p:italic r:id="rId15"/>
      <p:boldItalic r:id="rId16"/>
    </p:embeddedFont>
    <p:embeddedFont>
      <p:font typeface="Quicksand" panose="00000500000000000000" pitchFamily="2" charset="0"/>
      <p:regular r:id="rId17"/>
    </p:embeddedFont>
    <p:embeddedFont>
      <p:font typeface="Quicksand Light" panose="00000400000000000000" pitchFamily="2" charset="0"/>
      <p:regular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240">
          <p15:clr>
            <a:srgbClr val="747775"/>
          </p15:clr>
        </p15:guide>
        <p15:guide id="2" pos="576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43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90" d="100"/>
          <a:sy n="90" d="100"/>
        </p:scale>
        <p:origin x="53" y="-34"/>
      </p:cViewPr>
      <p:guideLst>
        <p:guide orient="horz" pos="3240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customXml" Target="../customXml/item2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font" Target="fonts/font3.fntdata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86edb08a64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86edb08a64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F3B0A-3FBC-4A37-8F06-EBBF52D47C5F}" type="slidenum">
              <a:rPr kumimoji="0" lang="en-MY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MY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44138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8EF3B0A-3FBC-4A37-8F06-EBBF52D47C5F}" type="slidenum">
              <a:rPr kumimoji="0" lang="en-MY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MY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70635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86edb08a64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86edb08a64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064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064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82850" tIns="182850" rIns="182850" bIns="1828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marL="914400" lvl="1" indent="-406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marL="1371600" lvl="2" indent="-4064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marL="1828800" lvl="3" indent="-406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marL="2286000" lvl="4" indent="-406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marL="2743200" lvl="5" indent="-4064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marL="3200400" lvl="6" indent="-406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marL="3657600" lvl="7" indent="-406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marL="4114800" lvl="8" indent="-4064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</p:spPr>
        <p:txBody>
          <a:bodyPr spcFirstLastPara="1" wrap="square" lIns="182850" tIns="182850" rIns="182850" bIns="18285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marL="914400" lvl="1" indent="-4064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marL="1371600" lvl="2" indent="-4064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marL="1828800" lvl="3" indent="-4064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marL="2286000" lvl="4" indent="-4064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marL="2743200" lvl="5" indent="-4064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marL="3200400" lvl="6" indent="-4064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marL="3657600" lvl="7" indent="-4064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marL="4114800" lvl="8" indent="-4064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B88C8-53D9-4121-8F5E-F1A753C9A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A7B0F-4AB8-4D5E-B004-F4D196C0F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D781D4-9BAC-4952-A498-C84D555CD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9002D-F8A0-4DBB-972D-5678DBF85AA8}" type="datetimeFigureOut">
              <a:rPr lang="en-MY" smtClean="0"/>
              <a:t>2/9/2026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A3872-0475-4187-899D-74191201E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78A0C-A37B-456E-9DEC-9FAC6B0C4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1AC3D-AB8E-4CC9-B931-A4AE4A70FBB6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07697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rmAutofit/>
          </a:bodyPr>
          <a:lstStyle>
            <a:lvl1pPr marL="457200" lvl="0" indent="-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●"/>
              <a:defRPr sz="3600">
                <a:solidFill>
                  <a:schemeClr val="dk2"/>
                </a:solidFill>
              </a:defRPr>
            </a:lvl1pPr>
            <a:lvl2pPr marL="914400" lvl="1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2pPr>
            <a:lvl3pPr marL="1371600" lvl="2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3pPr>
            <a:lvl4pPr marL="1828800" lvl="3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4pPr>
            <a:lvl5pPr marL="2286000" lvl="4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5pPr>
            <a:lvl6pPr marL="2743200" lvl="5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6pPr>
            <a:lvl7pPr marL="3200400" lvl="6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7pPr>
            <a:lvl8pPr marL="3657600" lvl="7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8pPr>
            <a:lvl9pPr marL="4114800" lvl="8" indent="-406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ctr" anchorCtr="0">
            <a:normAutofit/>
          </a:bodyPr>
          <a:lstStyle>
            <a:lvl1pPr lvl="0" algn="r">
              <a:buNone/>
              <a:defRPr sz="2000">
                <a:solidFill>
                  <a:schemeClr val="dk2"/>
                </a:solidFill>
              </a:defRPr>
            </a:lvl1pPr>
            <a:lvl2pPr lvl="1" algn="r">
              <a:buNone/>
              <a:defRPr sz="2000">
                <a:solidFill>
                  <a:schemeClr val="dk2"/>
                </a:solidFill>
              </a:defRPr>
            </a:lvl2pPr>
            <a:lvl3pPr lvl="2" algn="r">
              <a:buNone/>
              <a:defRPr sz="2000">
                <a:solidFill>
                  <a:schemeClr val="dk2"/>
                </a:solidFill>
              </a:defRPr>
            </a:lvl3pPr>
            <a:lvl4pPr lvl="3" algn="r">
              <a:buNone/>
              <a:defRPr sz="2000">
                <a:solidFill>
                  <a:schemeClr val="dk2"/>
                </a:solidFill>
              </a:defRPr>
            </a:lvl4pPr>
            <a:lvl5pPr lvl="4" algn="r">
              <a:buNone/>
              <a:defRPr sz="2000">
                <a:solidFill>
                  <a:schemeClr val="dk2"/>
                </a:solidFill>
              </a:defRPr>
            </a:lvl5pPr>
            <a:lvl6pPr lvl="5" algn="r">
              <a:buNone/>
              <a:defRPr sz="2000">
                <a:solidFill>
                  <a:schemeClr val="dk2"/>
                </a:solidFill>
              </a:defRPr>
            </a:lvl6pPr>
            <a:lvl7pPr lvl="6" algn="r">
              <a:buNone/>
              <a:defRPr sz="2000">
                <a:solidFill>
                  <a:schemeClr val="dk2"/>
                </a:solidFill>
              </a:defRPr>
            </a:lvl7pPr>
            <a:lvl8pPr lvl="7" algn="r">
              <a:buNone/>
              <a:defRPr sz="2000">
                <a:solidFill>
                  <a:schemeClr val="dk2"/>
                </a:solidFill>
              </a:defRPr>
            </a:lvl8pPr>
            <a:lvl9pPr lvl="8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60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github.com/ArjunaMarzuki/Semiconductor-Chip-and-Sensor-Design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176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224590" y="3449307"/>
            <a:ext cx="17822778" cy="2001300"/>
          </a:xfrm>
          <a:prstGeom prst="rect">
            <a:avLst/>
          </a:prstGeom>
        </p:spPr>
        <p:txBody>
          <a:bodyPr spcFirstLastPara="1" wrap="square" lIns="182850" tIns="182850" rIns="182850" bIns="182850" anchor="b" anchorCtr="0">
            <a:normAutofit fontScale="90000"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MY" sz="9600" b="1" dirty="0">
                <a:solidFill>
                  <a:srgbClr val="00AC6B"/>
                </a:solidFill>
                <a:latin typeface="Nunito"/>
                <a:ea typeface="Nunito"/>
                <a:cs typeface="Nunito"/>
                <a:sym typeface="Nunito"/>
              </a:rPr>
              <a:t>Semiconductor Chip and Sensor Design –Slide 1</a:t>
            </a:r>
            <a:endParaRPr sz="9600" b="1" dirty="0">
              <a:solidFill>
                <a:srgbClr val="00AC6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3825" y="369600"/>
            <a:ext cx="2279625" cy="113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 amt="9000"/>
          </a:blip>
          <a:stretch>
            <a:fillRect/>
          </a:stretch>
        </p:blipFill>
        <p:spPr>
          <a:xfrm>
            <a:off x="14686849" y="0"/>
            <a:ext cx="5990600" cy="35633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C54FDEB9-6E5E-49E5-B9FD-B94B9871684E}"/>
              </a:ext>
            </a:extLst>
          </p:cNvPr>
          <p:cNvGrpSpPr/>
          <p:nvPr/>
        </p:nvGrpSpPr>
        <p:grpSpPr>
          <a:xfrm>
            <a:off x="347841" y="9424600"/>
            <a:ext cx="735026" cy="213730"/>
            <a:chOff x="391668" y="10065233"/>
            <a:chExt cx="465584" cy="135382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309F1E6-4370-4ED5-BBD4-D12D899CFB48}"/>
                </a:ext>
              </a:extLst>
            </p:cNvPr>
            <p:cNvSpPr/>
            <p:nvPr/>
          </p:nvSpPr>
          <p:spPr>
            <a:xfrm>
              <a:off x="391668" y="10065233"/>
              <a:ext cx="133794" cy="133794"/>
            </a:xfrm>
            <a:prstGeom prst="ellipse">
              <a:avLst/>
            </a:prstGeom>
            <a:solidFill>
              <a:srgbClr val="17AD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9D0E7D0-26B4-4989-B704-DB23D2C60388}"/>
                </a:ext>
              </a:extLst>
            </p:cNvPr>
            <p:cNvSpPr/>
            <p:nvPr/>
          </p:nvSpPr>
          <p:spPr>
            <a:xfrm>
              <a:off x="553593" y="10065233"/>
              <a:ext cx="133794" cy="133794"/>
            </a:xfrm>
            <a:prstGeom prst="ellipse">
              <a:avLst/>
            </a:prstGeom>
            <a:solidFill>
              <a:srgbClr val="17AD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DB91BA6-EBC4-4DF2-B8B3-D8A576C6571F}"/>
                </a:ext>
              </a:extLst>
            </p:cNvPr>
            <p:cNvSpPr/>
            <p:nvPr/>
          </p:nvSpPr>
          <p:spPr>
            <a:xfrm>
              <a:off x="723458" y="10066821"/>
              <a:ext cx="133794" cy="133794"/>
            </a:xfrm>
            <a:prstGeom prst="ellipse">
              <a:avLst/>
            </a:prstGeom>
            <a:solidFill>
              <a:srgbClr val="17AD6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1CF1E90-854D-4792-88F1-A8006EAD21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564"/>
          <a:stretch/>
        </p:blipFill>
        <p:spPr>
          <a:xfrm>
            <a:off x="0" y="2"/>
            <a:ext cx="18288000" cy="10793895"/>
          </a:xfrm>
          <a:prstGeom prst="rect">
            <a:avLst/>
          </a:prstGeom>
        </p:spPr>
      </p:pic>
      <p:sp>
        <p:nvSpPr>
          <p:cNvPr id="16" name="Google Shape;279;p1">
            <a:extLst>
              <a:ext uri="{FF2B5EF4-FFF2-40B4-BE49-F238E27FC236}">
                <a16:creationId xmlns:a16="http://schemas.microsoft.com/office/drawing/2014/main" id="{99214793-60F5-40E3-9A09-D2CD50299E4C}"/>
              </a:ext>
            </a:extLst>
          </p:cNvPr>
          <p:cNvSpPr txBox="1"/>
          <p:nvPr/>
        </p:nvSpPr>
        <p:spPr>
          <a:xfrm>
            <a:off x="15358650" y="9326600"/>
            <a:ext cx="2485800" cy="9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noAutofit/>
          </a:bodyPr>
          <a:lstStyle/>
          <a:p>
            <a:pPr algn="ctr" defTabSz="1371600">
              <a:buClrTx/>
              <a:defRPr/>
            </a:pPr>
            <a:r>
              <a:rPr lang="en-US" sz="3000" kern="1200" dirty="0">
                <a:solidFill>
                  <a:prstClr val="white"/>
                </a:solidFill>
                <a:latin typeface="Quicksand"/>
                <a:ea typeface="Quicksand"/>
                <a:cs typeface="Quicksand"/>
                <a:sym typeface="Quicksand"/>
              </a:rPr>
              <a:t>wou.edu.my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07EE063-47C3-4851-A599-6B01C9D667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81750" y="-393131"/>
            <a:ext cx="4137417" cy="292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901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>
            <a:extLst>
              <a:ext uri="{FF2B5EF4-FFF2-40B4-BE49-F238E27FC236}">
                <a16:creationId xmlns:a16="http://schemas.microsoft.com/office/drawing/2014/main" id="{260D8BC2-B325-49AF-84ED-C657F79F4950}"/>
              </a:ext>
            </a:extLst>
          </p:cNvPr>
          <p:cNvSpPr txBox="1">
            <a:spLocks/>
          </p:cNvSpPr>
          <p:nvPr/>
        </p:nvSpPr>
        <p:spPr>
          <a:xfrm>
            <a:off x="500600" y="104227"/>
            <a:ext cx="16371005" cy="1245683"/>
          </a:xfrm>
          <a:prstGeom prst="rect">
            <a:avLst/>
          </a:prstGeom>
        </p:spPr>
        <p:txBody>
          <a:bodyPr vert="horz" lIns="137160" tIns="68580" rIns="137160" bIns="6858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MY" sz="6000" b="1" dirty="0"/>
              <a:t>Introduction of WOU</a:t>
            </a:r>
            <a:endParaRPr lang="en-MY" sz="4200" dirty="0"/>
          </a:p>
        </p:txBody>
      </p:sp>
      <p:pic>
        <p:nvPicPr>
          <p:cNvPr id="18" name="Google Shape;63;p14">
            <a:extLst>
              <a:ext uri="{FF2B5EF4-FFF2-40B4-BE49-F238E27FC236}">
                <a16:creationId xmlns:a16="http://schemas.microsoft.com/office/drawing/2014/main" id="{307940F1-FB4E-49EC-98BB-358E00393C2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344550" y="273350"/>
            <a:ext cx="1673175" cy="396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89928D6-C4F5-49CB-9AAE-07DECE60E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545" y="1349909"/>
            <a:ext cx="17776447" cy="7697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121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le 27">
            <a:extLst>
              <a:ext uri="{FF2B5EF4-FFF2-40B4-BE49-F238E27FC236}">
                <a16:creationId xmlns:a16="http://schemas.microsoft.com/office/drawing/2014/main" id="{E360CDD9-DC3C-490D-AA6E-4A18B9CB1CA3}"/>
              </a:ext>
            </a:extLst>
          </p:cNvPr>
          <p:cNvSpPr/>
          <p:nvPr/>
        </p:nvSpPr>
        <p:spPr>
          <a:xfrm>
            <a:off x="1597844" y="2239721"/>
            <a:ext cx="15002034" cy="1085448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5600" b="1" i="1" dirty="0">
                <a:latin typeface="Quicksand" panose="020B0604020202020204" charset="0"/>
              </a:rPr>
              <a:t>Flexible learning for busy professionals</a:t>
            </a:r>
          </a:p>
        </p:txBody>
      </p:sp>
      <p:sp>
        <p:nvSpPr>
          <p:cNvPr id="20" name="Rounded Rectangle 28">
            <a:extLst>
              <a:ext uri="{FF2B5EF4-FFF2-40B4-BE49-F238E27FC236}">
                <a16:creationId xmlns:a16="http://schemas.microsoft.com/office/drawing/2014/main" id="{5376D159-2452-4650-9CB2-DD723709E09D}"/>
              </a:ext>
            </a:extLst>
          </p:cNvPr>
          <p:cNvSpPr/>
          <p:nvPr/>
        </p:nvSpPr>
        <p:spPr>
          <a:xfrm>
            <a:off x="1597845" y="3529727"/>
            <a:ext cx="3452055" cy="1838487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en-US" sz="4400" b="1" i="1" dirty="0">
                <a:solidFill>
                  <a:srgbClr val="FFFFFF"/>
                </a:solidFill>
                <a:latin typeface="Quicksand" panose="020B0604020202020204" charset="0"/>
              </a:rPr>
              <a:t>Guided Learning</a:t>
            </a:r>
            <a:endParaRPr lang="en-MY" altLang="en-US" sz="4400" b="1" i="1" dirty="0">
              <a:solidFill>
                <a:srgbClr val="FFFFFF"/>
              </a:solidFill>
              <a:latin typeface="Quicksand" panose="020B0604020202020204" charset="0"/>
            </a:endParaRPr>
          </a:p>
        </p:txBody>
      </p:sp>
      <p:sp>
        <p:nvSpPr>
          <p:cNvPr id="21" name="Rounded Rectangle 29">
            <a:extLst>
              <a:ext uri="{FF2B5EF4-FFF2-40B4-BE49-F238E27FC236}">
                <a16:creationId xmlns:a16="http://schemas.microsoft.com/office/drawing/2014/main" id="{8C2944F3-EB3A-41CE-B425-778FC7990C44}"/>
              </a:ext>
            </a:extLst>
          </p:cNvPr>
          <p:cNvSpPr/>
          <p:nvPr/>
        </p:nvSpPr>
        <p:spPr>
          <a:xfrm>
            <a:off x="5401992" y="3486740"/>
            <a:ext cx="11197885" cy="1881474"/>
          </a:xfrm>
          <a:prstGeom prst="roundRect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>
              <a:lnSpc>
                <a:spcPct val="90000"/>
              </a:lnSpc>
              <a:spcAft>
                <a:spcPct val="35000"/>
              </a:spcAft>
              <a:defRPr/>
            </a:pPr>
            <a:r>
              <a:rPr lang="en-GB" altLang="en-US" sz="3600" b="1" i="1" dirty="0">
                <a:solidFill>
                  <a:srgbClr val="000000"/>
                </a:solidFill>
                <a:latin typeface="Quicksand" panose="020B0604020202020204" charset="0"/>
              </a:rPr>
              <a:t>Online tutorial + Lab</a:t>
            </a:r>
          </a:p>
          <a:p>
            <a:pPr>
              <a:lnSpc>
                <a:spcPct val="90000"/>
              </a:lnSpc>
              <a:spcAft>
                <a:spcPct val="35000"/>
              </a:spcAft>
              <a:defRPr/>
            </a:pPr>
            <a:r>
              <a:rPr lang="en-GB" altLang="en-US" sz="3600" b="1" i="1" dirty="0">
                <a:solidFill>
                  <a:srgbClr val="000000"/>
                </a:solidFill>
                <a:latin typeface="Quicksand" panose="020B0604020202020204" charset="0"/>
              </a:rPr>
              <a:t>Counselling and guidance: online or face-to-face</a:t>
            </a:r>
          </a:p>
        </p:txBody>
      </p:sp>
      <p:sp>
        <p:nvSpPr>
          <p:cNvPr id="22" name="Rounded Rectangle 30">
            <a:extLst>
              <a:ext uri="{FF2B5EF4-FFF2-40B4-BE49-F238E27FC236}">
                <a16:creationId xmlns:a16="http://schemas.microsoft.com/office/drawing/2014/main" id="{326D482D-3533-483B-AF6F-F58A283ECE3E}"/>
              </a:ext>
            </a:extLst>
          </p:cNvPr>
          <p:cNvSpPr/>
          <p:nvPr/>
        </p:nvSpPr>
        <p:spPr>
          <a:xfrm>
            <a:off x="5401992" y="5450780"/>
            <a:ext cx="11197885" cy="1993724"/>
          </a:xfrm>
          <a:prstGeom prst="roundRect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>
              <a:lnSpc>
                <a:spcPct val="90000"/>
              </a:lnSpc>
              <a:spcAft>
                <a:spcPct val="35000"/>
              </a:spcAft>
              <a:defRPr/>
            </a:pPr>
            <a:r>
              <a:rPr lang="en-GB" sz="3600" b="1" i="1" dirty="0">
                <a:latin typeface="Quicksand" panose="020B0604020202020204" charset="0"/>
              </a:rPr>
              <a:t>Course materials designed for self learners</a:t>
            </a:r>
          </a:p>
          <a:p>
            <a:pPr>
              <a:lnSpc>
                <a:spcPct val="90000"/>
              </a:lnSpc>
              <a:spcAft>
                <a:spcPct val="35000"/>
              </a:spcAft>
              <a:defRPr/>
            </a:pPr>
            <a:r>
              <a:rPr lang="en-GB" sz="3600" b="1" i="1" dirty="0">
                <a:latin typeface="Quicksand" panose="020B0604020202020204" charset="0"/>
              </a:rPr>
              <a:t>Electronic library resources</a:t>
            </a:r>
          </a:p>
          <a:p>
            <a:pPr>
              <a:lnSpc>
                <a:spcPct val="90000"/>
              </a:lnSpc>
              <a:spcAft>
                <a:spcPct val="35000"/>
              </a:spcAft>
              <a:defRPr/>
            </a:pPr>
            <a:r>
              <a:rPr lang="en-GB" sz="3600" b="1" i="1" dirty="0">
                <a:latin typeface="Quicksand" panose="020B0604020202020204" charset="0"/>
              </a:rPr>
              <a:t>Learning Management System</a:t>
            </a:r>
          </a:p>
        </p:txBody>
      </p:sp>
      <p:sp>
        <p:nvSpPr>
          <p:cNvPr id="23" name="Rounded Rectangle 31">
            <a:extLst>
              <a:ext uri="{FF2B5EF4-FFF2-40B4-BE49-F238E27FC236}">
                <a16:creationId xmlns:a16="http://schemas.microsoft.com/office/drawing/2014/main" id="{180377A4-CCF9-4BF5-8115-76FAD00612AF}"/>
              </a:ext>
            </a:extLst>
          </p:cNvPr>
          <p:cNvSpPr/>
          <p:nvPr/>
        </p:nvSpPr>
        <p:spPr>
          <a:xfrm>
            <a:off x="1597844" y="5698504"/>
            <a:ext cx="3554858" cy="146390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lnSpc>
                <a:spcPct val="90000"/>
              </a:lnSpc>
              <a:spcAft>
                <a:spcPct val="35000"/>
              </a:spcAft>
              <a:defRPr/>
            </a:pPr>
            <a:r>
              <a:rPr lang="en-GB" sz="4400" b="1" i="1" dirty="0">
                <a:latin typeface="Quicksand" panose="020B0604020202020204" charset="0"/>
              </a:rPr>
              <a:t>Self Learning</a:t>
            </a:r>
          </a:p>
        </p:txBody>
      </p:sp>
      <p:sp>
        <p:nvSpPr>
          <p:cNvPr id="24" name="Rounded Rectangle 32">
            <a:extLst>
              <a:ext uri="{FF2B5EF4-FFF2-40B4-BE49-F238E27FC236}">
                <a16:creationId xmlns:a16="http://schemas.microsoft.com/office/drawing/2014/main" id="{C12C7AB7-8A19-4D95-A219-C41240295361}"/>
              </a:ext>
            </a:extLst>
          </p:cNvPr>
          <p:cNvSpPr/>
          <p:nvPr/>
        </p:nvSpPr>
        <p:spPr>
          <a:xfrm>
            <a:off x="1597844" y="7500821"/>
            <a:ext cx="3554858" cy="2000250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en-US" sz="4001" b="1" i="1" dirty="0">
                <a:solidFill>
                  <a:srgbClr val="FFFFFF"/>
                </a:solidFill>
                <a:latin typeface="Quicksand" panose="020B0604020202020204" charset="0"/>
              </a:rPr>
              <a:t>Formal Assessment</a:t>
            </a:r>
            <a:endParaRPr lang="en-MY" altLang="en-US" sz="4001" b="1" i="1" dirty="0">
              <a:solidFill>
                <a:srgbClr val="FFFFFF"/>
              </a:solidFill>
              <a:latin typeface="Quicksand" panose="020B0604020202020204" charset="0"/>
            </a:endParaRPr>
          </a:p>
        </p:txBody>
      </p:sp>
      <p:sp>
        <p:nvSpPr>
          <p:cNvPr id="25" name="Rounded Rectangle 33">
            <a:extLst>
              <a:ext uri="{FF2B5EF4-FFF2-40B4-BE49-F238E27FC236}">
                <a16:creationId xmlns:a16="http://schemas.microsoft.com/office/drawing/2014/main" id="{E2517878-EFBE-4CF3-97CD-5680CE0BBE24}"/>
              </a:ext>
            </a:extLst>
          </p:cNvPr>
          <p:cNvSpPr/>
          <p:nvPr/>
        </p:nvSpPr>
        <p:spPr>
          <a:xfrm>
            <a:off x="5401993" y="7548802"/>
            <a:ext cx="11197884" cy="1988216"/>
          </a:xfrm>
          <a:prstGeom prst="roundRect">
            <a:avLst/>
          </a:prstGeom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>
              <a:lnSpc>
                <a:spcPct val="90000"/>
              </a:lnSpc>
              <a:spcAft>
                <a:spcPct val="35000"/>
              </a:spcAft>
              <a:defRPr/>
            </a:pPr>
            <a:r>
              <a:rPr lang="en-GB" altLang="en-US" sz="3600" b="1" i="1" dirty="0">
                <a:solidFill>
                  <a:srgbClr val="000000"/>
                </a:solidFill>
                <a:latin typeface="Quicksand" panose="020B0604020202020204" charset="0"/>
              </a:rPr>
              <a:t>Continuous Assessments: Assignments </a:t>
            </a:r>
          </a:p>
          <a:p>
            <a:pPr>
              <a:lnSpc>
                <a:spcPct val="90000"/>
              </a:lnSpc>
              <a:spcAft>
                <a:spcPct val="35000"/>
              </a:spcAft>
              <a:defRPr/>
            </a:pPr>
            <a:r>
              <a:rPr lang="en-GB" altLang="en-US" sz="3600" b="1" i="1" dirty="0">
                <a:solidFill>
                  <a:srgbClr val="000000"/>
                </a:solidFill>
                <a:latin typeface="Quicksand" panose="020B0604020202020204" charset="0"/>
              </a:rPr>
              <a:t>Final Assessments: Final examination/ Final assignment</a:t>
            </a:r>
            <a:endParaRPr lang="en-US" altLang="en-US" sz="3600" b="1" i="1" dirty="0">
              <a:solidFill>
                <a:srgbClr val="000000"/>
              </a:solidFill>
              <a:latin typeface="Quicksand" panose="020B0604020202020204" charset="0"/>
            </a:endParaRPr>
          </a:p>
        </p:txBody>
      </p:sp>
      <p:sp>
        <p:nvSpPr>
          <p:cNvPr id="26" name="Google Shape;113;p17">
            <a:extLst>
              <a:ext uri="{FF2B5EF4-FFF2-40B4-BE49-F238E27FC236}">
                <a16:creationId xmlns:a16="http://schemas.microsoft.com/office/drawing/2014/main" id="{F6307523-A43C-4D36-823E-DFA4A1AE6CA9}"/>
              </a:ext>
            </a:extLst>
          </p:cNvPr>
          <p:cNvSpPr txBox="1">
            <a:spLocks/>
          </p:cNvSpPr>
          <p:nvPr/>
        </p:nvSpPr>
        <p:spPr>
          <a:xfrm>
            <a:off x="533401" y="531449"/>
            <a:ext cx="17003000" cy="1550634"/>
          </a:xfrm>
          <a:prstGeom prst="rect">
            <a:avLst/>
          </a:prstGeom>
        </p:spPr>
        <p:txBody>
          <a:bodyPr spcFirstLastPara="1" wrap="square" lIns="182850" tIns="182850" rIns="182850" bIns="18285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b="1" dirty="0">
                <a:latin typeface="Quicksand Light"/>
                <a:ea typeface="Quicksand Light"/>
                <a:cs typeface="Quicksand Light"/>
                <a:sym typeface="Quicksand Light"/>
              </a:rPr>
              <a:t>ODL Programmes</a:t>
            </a:r>
          </a:p>
        </p:txBody>
      </p:sp>
      <p:pic>
        <p:nvPicPr>
          <p:cNvPr id="16" name="Google Shape;63;p14">
            <a:extLst>
              <a:ext uri="{FF2B5EF4-FFF2-40B4-BE49-F238E27FC236}">
                <a16:creationId xmlns:a16="http://schemas.microsoft.com/office/drawing/2014/main" id="{B8A79634-BBCE-44CA-BA99-F1A8C7B2D9BA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6344550" y="273350"/>
            <a:ext cx="1673175" cy="396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81337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1C2C21F8-C428-4DD9-BDEF-4C2C9E72CE81}"/>
              </a:ext>
            </a:extLst>
          </p:cNvPr>
          <p:cNvSpPr txBox="1">
            <a:spLocks/>
          </p:cNvSpPr>
          <p:nvPr/>
        </p:nvSpPr>
        <p:spPr>
          <a:xfrm>
            <a:off x="1923404" y="524587"/>
            <a:ext cx="13186610" cy="111266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1371600">
              <a:buClrTx/>
              <a:defRPr/>
            </a:pPr>
            <a:endParaRPr lang="en-MY" sz="5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Box 2">
            <a:extLst>
              <a:ext uri="{FF2B5EF4-FFF2-40B4-BE49-F238E27FC236}">
                <a16:creationId xmlns:a16="http://schemas.microsoft.com/office/drawing/2014/main" id="{DEF1882C-8B42-4BA3-9593-14B0CC83B49A}"/>
              </a:ext>
            </a:extLst>
          </p:cNvPr>
          <p:cNvSpPr txBox="1"/>
          <p:nvPr/>
        </p:nvSpPr>
        <p:spPr>
          <a:xfrm>
            <a:off x="1923404" y="88792"/>
            <a:ext cx="3387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altLang="en-US" sz="6000" b="1" dirty="0">
                <a:latin typeface="Quicksand" panose="020B0604020202020204"/>
              </a:rPr>
              <a:t>Schedule</a:t>
            </a:r>
          </a:p>
        </p:txBody>
      </p:sp>
      <p:pic>
        <p:nvPicPr>
          <p:cNvPr id="18" name="Google Shape;63;p14">
            <a:extLst>
              <a:ext uri="{FF2B5EF4-FFF2-40B4-BE49-F238E27FC236}">
                <a16:creationId xmlns:a16="http://schemas.microsoft.com/office/drawing/2014/main" id="{04D2F75A-DAB5-4B01-A10D-76C0AFCC78A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44550" y="273350"/>
            <a:ext cx="1673175" cy="3961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CE6383F-E5D0-9829-99CE-A77F048A0D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8854445"/>
              </p:ext>
            </p:extLst>
          </p:nvPr>
        </p:nvGraphicFramePr>
        <p:xfrm>
          <a:off x="2425295" y="1226820"/>
          <a:ext cx="12192001" cy="758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1">
                  <a:extLst>
                    <a:ext uri="{9D8B030D-6E8A-4147-A177-3AD203B41FA5}">
                      <a16:colId xmlns:a16="http://schemas.microsoft.com/office/drawing/2014/main" val="2003167940"/>
                    </a:ext>
                  </a:extLst>
                </a:gridCol>
                <a:gridCol w="2737658">
                  <a:extLst>
                    <a:ext uri="{9D8B030D-6E8A-4147-A177-3AD203B41FA5}">
                      <a16:colId xmlns:a16="http://schemas.microsoft.com/office/drawing/2014/main" val="596866799"/>
                    </a:ext>
                  </a:extLst>
                </a:gridCol>
                <a:gridCol w="3967942">
                  <a:extLst>
                    <a:ext uri="{9D8B030D-6E8A-4147-A177-3AD203B41FA5}">
                      <a16:colId xmlns:a16="http://schemas.microsoft.com/office/drawing/2014/main" val="385013018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420627944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40384526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/>
                        <a:t>No</a:t>
                      </a:r>
                      <a:endParaRPr lang="en-MY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Date/Time</a:t>
                      </a:r>
                      <a:endParaRPr lang="en-MY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Course</a:t>
                      </a:r>
                      <a:endParaRPr lang="en-MY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Topic</a:t>
                      </a:r>
                      <a:endParaRPr lang="en-MY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Remark</a:t>
                      </a:r>
                      <a:endParaRPr lang="en-MY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892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Quicksand" panose="00000500000000000000" pitchFamily="2" charset="0"/>
                        </a:rPr>
                        <a:t>1</a:t>
                      </a:r>
                      <a:endParaRPr lang="en-MY" sz="1200" dirty="0">
                        <a:latin typeface="Quicksand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Quicksand" panose="020B0604020202020204"/>
                        </a:rPr>
                        <a:t>5/9/2026 , 11.00am</a:t>
                      </a:r>
                      <a:endParaRPr lang="en-MY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b="0" dirty="0">
                          <a:latin typeface="Quicksand" panose="020B0604020202020204"/>
                        </a:rPr>
                        <a:t>Semiconductor 101</a:t>
                      </a:r>
                      <a:endParaRPr lang="en-MY" sz="1200" b="0" dirty="0"/>
                    </a:p>
                    <a:p>
                      <a:endParaRPr lang="en-MY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latin typeface="Quicksand" panose="020B0604020202020204"/>
                        </a:rPr>
                        <a:t>Semiconductor 101</a:t>
                      </a:r>
                      <a:endParaRPr lang="en-MY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2-hour</a:t>
                      </a:r>
                      <a:endParaRPr lang="en-MY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613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Quicksand" panose="00000500000000000000" pitchFamily="2" charset="0"/>
                        </a:rPr>
                        <a:t>2</a:t>
                      </a:r>
                      <a:endParaRPr lang="en-MY" sz="1200" dirty="0">
                        <a:latin typeface="Quicksand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Quicksand" panose="00000500000000000000" pitchFamily="2" charset="0"/>
                        </a:rPr>
                        <a:t>19/9/2026, 11.00am</a:t>
                      </a:r>
                      <a:endParaRPr lang="en-MY" sz="1200" dirty="0">
                        <a:latin typeface="Quicksand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Quicksand" panose="00000500000000000000" pitchFamily="2" charset="0"/>
                        </a:rPr>
                        <a:t>Advanced CMOS Analog and Mixed-Signal Circuit, SCSD401 01-</a:t>
                      </a:r>
                      <a:endParaRPr lang="en-MY" sz="1200" dirty="0">
                        <a:latin typeface="Quicksand" panose="00000500000000000000" pitchFamily="2" charset="0"/>
                      </a:endParaRPr>
                    </a:p>
                    <a:p>
                      <a:endParaRPr lang="en-MY" sz="1200" dirty="0">
                        <a:latin typeface="Quicksand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Quicksand" panose="00000500000000000000" pitchFamily="2" charset="0"/>
                        </a:rPr>
                        <a:t>1-SoC</a:t>
                      </a:r>
                    </a:p>
                    <a:p>
                      <a:r>
                        <a:rPr lang="en-US" sz="1200" dirty="0">
                          <a:latin typeface="Quicksand" panose="00000500000000000000" pitchFamily="2" charset="0"/>
                        </a:rPr>
                        <a:t>-General Topology of System on Chip,  Design Methodology, </a:t>
                      </a:r>
                    </a:p>
                    <a:p>
                      <a:r>
                        <a:rPr lang="en-US" sz="1200" dirty="0" err="1">
                          <a:latin typeface="Quicksand" panose="00000500000000000000" pitchFamily="2" charset="0"/>
                        </a:rPr>
                        <a:t>Behavioural</a:t>
                      </a:r>
                      <a:r>
                        <a:rPr lang="en-US" sz="1200" dirty="0">
                          <a:latin typeface="Quicksand" panose="00000500000000000000" pitchFamily="2" charset="0"/>
                        </a:rPr>
                        <a:t> modelling, Verilog-A,  Mixed-Signal Simulation"</a:t>
                      </a:r>
                      <a:endParaRPr lang="en-MY" sz="1200" dirty="0">
                        <a:latin typeface="Quicksand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Quicksand" panose="00000500000000000000" pitchFamily="2" charset="0"/>
                        </a:rPr>
                        <a:t>2-hour</a:t>
                      </a:r>
                      <a:endParaRPr lang="en-MY" sz="1200" dirty="0">
                        <a:latin typeface="Quicksand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664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Quicksand" panose="00000500000000000000" pitchFamily="2" charset="0"/>
                        </a:rPr>
                        <a:t>3</a:t>
                      </a:r>
                      <a:endParaRPr lang="en-MY" sz="1200" dirty="0">
                        <a:latin typeface="Quicksand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Quicksand" panose="00000500000000000000" pitchFamily="2" charset="0"/>
                        </a:rPr>
                        <a:t>26/9/2026, 11.00am</a:t>
                      </a:r>
                      <a:endParaRPr lang="en-MY" sz="1200" dirty="0">
                        <a:latin typeface="Quicksand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Quicksand" panose="00000500000000000000" pitchFamily="2" charset="0"/>
                        </a:rPr>
                        <a:t>Advanced CMOS Analog and Mixed-Signal Circuit, SCSD401 01-</a:t>
                      </a:r>
                      <a:endParaRPr lang="en-MY" sz="1200" dirty="0">
                        <a:latin typeface="Quicksand" panose="00000500000000000000" pitchFamily="2" charset="0"/>
                      </a:endParaRPr>
                    </a:p>
                    <a:p>
                      <a:endParaRPr lang="en-MY" sz="1200" dirty="0">
                        <a:latin typeface="Quicksand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Quicksand" panose="00000500000000000000" pitchFamily="2" charset="0"/>
                        </a:rPr>
                        <a:t>2- Design </a:t>
                      </a:r>
                    </a:p>
                    <a:p>
                      <a:r>
                        <a:rPr lang="en-US" sz="1200" dirty="0">
                          <a:latin typeface="Quicksand" panose="00000500000000000000" pitchFamily="2" charset="0"/>
                        </a:rPr>
                        <a:t>• Design Ideas in Block Diagram</a:t>
                      </a:r>
                    </a:p>
                    <a:p>
                      <a:r>
                        <a:rPr lang="en-US" sz="1200" dirty="0">
                          <a:latin typeface="Quicksand" panose="00000500000000000000" pitchFamily="2" charset="0"/>
                        </a:rPr>
                        <a:t>• Cost</a:t>
                      </a:r>
                    </a:p>
                    <a:p>
                      <a:r>
                        <a:rPr lang="en-US" sz="1200" dirty="0">
                          <a:latin typeface="Quicksand" panose="00000500000000000000" pitchFamily="2" charset="0"/>
                        </a:rPr>
                        <a:t>• Design Flow, Design Dimensions</a:t>
                      </a:r>
                    </a:p>
                    <a:p>
                      <a:r>
                        <a:rPr lang="en-US" sz="1200" dirty="0">
                          <a:latin typeface="Quicksand" panose="00000500000000000000" pitchFamily="2" charset="0"/>
                        </a:rPr>
                        <a:t>• EDA Tools</a:t>
                      </a:r>
                    </a:p>
                    <a:p>
                      <a:endParaRPr lang="en-MY" sz="1200" dirty="0">
                        <a:latin typeface="Quicksand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Quicksand" panose="00000500000000000000" pitchFamily="2" charset="0"/>
                        </a:rPr>
                        <a:t>2-hour</a:t>
                      </a:r>
                      <a:endParaRPr lang="en-MY" sz="1200" dirty="0">
                        <a:latin typeface="Quicksand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2474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Quicksand" panose="00000500000000000000" pitchFamily="2" charset="0"/>
                        </a:rPr>
                        <a:t>4</a:t>
                      </a:r>
                      <a:endParaRPr lang="en-MY" sz="1200" dirty="0">
                        <a:latin typeface="Quicksand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Quicksand" panose="00000500000000000000" pitchFamily="2" charset="0"/>
                        </a:rPr>
                        <a:t>3/10/2026, 11.00am</a:t>
                      </a:r>
                      <a:endParaRPr lang="en-MY" sz="1200" dirty="0">
                        <a:latin typeface="Quicksand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Quicksand" panose="00000500000000000000" pitchFamily="2" charset="0"/>
                        </a:rPr>
                        <a:t>Advanced CMOS Analog and Mixed-Signal Circuit, SCSD401 01-</a:t>
                      </a:r>
                      <a:endParaRPr lang="en-MY" sz="1200" dirty="0">
                        <a:latin typeface="Quicksand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sz="1200" dirty="0">
                          <a:latin typeface="Quicksand" panose="00000500000000000000" pitchFamily="2" charset="0"/>
                        </a:rPr>
                        <a:t>3 DAC</a:t>
                      </a:r>
                    </a:p>
                    <a:p>
                      <a:r>
                        <a:rPr lang="en-MY" sz="1200" dirty="0">
                          <a:latin typeface="Quicksand" panose="00000500000000000000" pitchFamily="2" charset="0"/>
                        </a:rPr>
                        <a:t>-CMOS switch, Resistor string                                                                                                                                                                                                                                            Hybrid DAC</a:t>
                      </a:r>
                    </a:p>
                    <a:p>
                      <a:r>
                        <a:rPr lang="en-MY" sz="1200" dirty="0">
                          <a:latin typeface="Quicksand" panose="00000500000000000000" pitchFamily="2" charset="0"/>
                        </a:rPr>
                        <a:t>-architect / topology 'DAC', 'DAC thermometer', binary resistor-string                                                                                                                                                                                                     - Datasheet (ICM 7373), Patent (Digital-to-</a:t>
                      </a:r>
                      <a:r>
                        <a:rPr lang="en-MY" sz="1200" dirty="0" err="1">
                          <a:latin typeface="Quicksand" panose="00000500000000000000" pitchFamily="2" charset="0"/>
                        </a:rPr>
                        <a:t>analog</a:t>
                      </a:r>
                      <a:r>
                        <a:rPr lang="en-MY" sz="1200" dirty="0">
                          <a:latin typeface="Quicksand" panose="00000500000000000000" pitchFamily="2" charset="0"/>
                        </a:rPr>
                        <a:t> converter having switchable current sources and resistor string. U.S. Patent 6,225,929)</a:t>
                      </a:r>
                    </a:p>
                    <a:p>
                      <a:endParaRPr lang="en-MY" sz="1200" dirty="0">
                        <a:latin typeface="Quicksand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Quicksand" panose="00000500000000000000" pitchFamily="2" charset="0"/>
                        </a:rPr>
                        <a:t>5-hour (Lab/Practical)</a:t>
                      </a:r>
                      <a:endParaRPr lang="en-MY" sz="1200" dirty="0">
                        <a:latin typeface="Quicksand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376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Quicksand" panose="00000500000000000000" pitchFamily="2" charset="0"/>
                        </a:rPr>
                        <a:t>5</a:t>
                      </a:r>
                      <a:endParaRPr lang="en-MY" sz="1200" dirty="0">
                        <a:latin typeface="Quicksand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Quicksand" panose="00000500000000000000" pitchFamily="2" charset="0"/>
                        </a:rPr>
                        <a:t>10/10/2026, 11.00am</a:t>
                      </a:r>
                      <a:endParaRPr lang="en-MY" sz="1200" dirty="0">
                        <a:latin typeface="Quicksand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Quicksand" panose="00000500000000000000" pitchFamily="2" charset="0"/>
                        </a:rPr>
                        <a:t>Advanced CMOS Analog and Mixed-Signal Circuit, SCSD401 01-</a:t>
                      </a:r>
                      <a:endParaRPr lang="en-MY" sz="1200" dirty="0">
                        <a:latin typeface="Quicksand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sz="1200" dirty="0">
                          <a:latin typeface="Quicksand" panose="00000500000000000000" pitchFamily="2" charset="0"/>
                        </a:rPr>
                        <a:t>4 ADC</a:t>
                      </a:r>
                    </a:p>
                    <a:p>
                      <a:r>
                        <a:rPr lang="en-MY" sz="1200" dirty="0">
                          <a:latin typeface="Quicksand" panose="00000500000000000000" pitchFamily="2" charset="0"/>
                        </a:rPr>
                        <a:t>-Switched-cap amplifier, residue amplifier, error correction circuit</a:t>
                      </a:r>
                    </a:p>
                    <a:p>
                      <a:endParaRPr lang="en-MY" sz="1200" dirty="0">
                        <a:latin typeface="Quicksand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Quicksand" panose="00000500000000000000" pitchFamily="2" charset="0"/>
                        </a:rPr>
                        <a:t>2-hour</a:t>
                      </a:r>
                      <a:endParaRPr lang="en-MY" sz="1200" dirty="0">
                        <a:latin typeface="Quicksand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7440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Quicksand" panose="00000500000000000000" pitchFamily="2" charset="0"/>
                        </a:rPr>
                        <a:t>6</a:t>
                      </a:r>
                      <a:endParaRPr lang="en-MY" sz="1200" dirty="0">
                        <a:latin typeface="Quicksand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Quicksand" panose="00000500000000000000" pitchFamily="2" charset="0"/>
                        </a:rPr>
                        <a:t>17/10/2026, 11.00am</a:t>
                      </a:r>
                      <a:endParaRPr lang="en-MY" sz="1200" dirty="0">
                        <a:latin typeface="Quicksand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Quicksand" panose="00000500000000000000" pitchFamily="2" charset="0"/>
                        </a:rPr>
                        <a:t>Advanced CMOS Analog and Mixed-Signal Circuit, SCSD401 01-</a:t>
                      </a:r>
                      <a:endParaRPr lang="en-MY" sz="1200" dirty="0">
                        <a:latin typeface="Quicksand" panose="00000500000000000000" pitchFamily="2" charset="0"/>
                      </a:endParaRPr>
                    </a:p>
                    <a:p>
                      <a:endParaRPr lang="en-MY" sz="1200" dirty="0">
                        <a:latin typeface="Quicksand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MY" sz="1200" dirty="0">
                          <a:latin typeface="Quicksand" panose="00000500000000000000" pitchFamily="2" charset="0"/>
                        </a:rPr>
                        <a:t>5 Peripheral </a:t>
                      </a:r>
                    </a:p>
                    <a:p>
                      <a:r>
                        <a:rPr lang="en-MY" sz="1200" dirty="0">
                          <a:latin typeface="Quicksand" panose="00000500000000000000" pitchFamily="2" charset="0"/>
                        </a:rPr>
                        <a:t>-Interface Circuitry, I/O                                                                        -ESD                                                                     -Oscillator</a:t>
                      </a:r>
                    </a:p>
                    <a:p>
                      <a:endParaRPr lang="en-MY" sz="1200" dirty="0">
                        <a:latin typeface="Quicksand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Quicksand" panose="00000500000000000000" pitchFamily="2" charset="0"/>
                        </a:rPr>
                        <a:t>2-hour</a:t>
                      </a:r>
                      <a:endParaRPr lang="en-MY" sz="1200" dirty="0">
                        <a:latin typeface="Quicksand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7596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9900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1C2C21F8-C428-4DD9-BDEF-4C2C9E72CE81}"/>
              </a:ext>
            </a:extLst>
          </p:cNvPr>
          <p:cNvSpPr txBox="1">
            <a:spLocks/>
          </p:cNvSpPr>
          <p:nvPr/>
        </p:nvSpPr>
        <p:spPr>
          <a:xfrm>
            <a:off x="1923404" y="524587"/>
            <a:ext cx="13186610" cy="1112669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defTabSz="1371600">
              <a:buClrTx/>
              <a:defRPr/>
            </a:pPr>
            <a:endParaRPr lang="en-MY" sz="5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Box 2">
            <a:extLst>
              <a:ext uri="{FF2B5EF4-FFF2-40B4-BE49-F238E27FC236}">
                <a16:creationId xmlns:a16="http://schemas.microsoft.com/office/drawing/2014/main" id="{DEF1882C-8B42-4BA3-9593-14B0CC83B49A}"/>
              </a:ext>
            </a:extLst>
          </p:cNvPr>
          <p:cNvSpPr txBox="1"/>
          <p:nvPr/>
        </p:nvSpPr>
        <p:spPr>
          <a:xfrm>
            <a:off x="1923404" y="88792"/>
            <a:ext cx="338746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altLang="en-US" sz="6000" b="1" dirty="0">
                <a:latin typeface="Quicksand" panose="020B0604020202020204"/>
              </a:rPr>
              <a:t>Schedule</a:t>
            </a:r>
          </a:p>
        </p:txBody>
      </p:sp>
      <p:pic>
        <p:nvPicPr>
          <p:cNvPr id="18" name="Google Shape;63;p14">
            <a:extLst>
              <a:ext uri="{FF2B5EF4-FFF2-40B4-BE49-F238E27FC236}">
                <a16:creationId xmlns:a16="http://schemas.microsoft.com/office/drawing/2014/main" id="{04D2F75A-DAB5-4B01-A10D-76C0AFCC78A8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44550" y="273350"/>
            <a:ext cx="1673175" cy="3961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CE6383F-E5D0-9829-99CE-A77F048A0D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4538488"/>
              </p:ext>
            </p:extLst>
          </p:nvPr>
        </p:nvGraphicFramePr>
        <p:xfrm>
          <a:off x="2420708" y="979764"/>
          <a:ext cx="12192001" cy="86152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1">
                  <a:extLst>
                    <a:ext uri="{9D8B030D-6E8A-4147-A177-3AD203B41FA5}">
                      <a16:colId xmlns:a16="http://schemas.microsoft.com/office/drawing/2014/main" val="2003167940"/>
                    </a:ext>
                  </a:extLst>
                </a:gridCol>
                <a:gridCol w="2737658">
                  <a:extLst>
                    <a:ext uri="{9D8B030D-6E8A-4147-A177-3AD203B41FA5}">
                      <a16:colId xmlns:a16="http://schemas.microsoft.com/office/drawing/2014/main" val="596866799"/>
                    </a:ext>
                  </a:extLst>
                </a:gridCol>
                <a:gridCol w="3967942">
                  <a:extLst>
                    <a:ext uri="{9D8B030D-6E8A-4147-A177-3AD203B41FA5}">
                      <a16:colId xmlns:a16="http://schemas.microsoft.com/office/drawing/2014/main" val="385013018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420627944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403845261"/>
                    </a:ext>
                  </a:extLst>
                </a:gridCol>
              </a:tblGrid>
              <a:tr h="421068">
                <a:tc>
                  <a:txBody>
                    <a:bodyPr/>
                    <a:lstStyle/>
                    <a:p>
                      <a:r>
                        <a:rPr lang="en-US" sz="2400" dirty="0"/>
                        <a:t>No</a:t>
                      </a:r>
                      <a:endParaRPr lang="en-MY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Date</a:t>
                      </a:r>
                      <a:endParaRPr lang="en-MY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Course</a:t>
                      </a:r>
                      <a:endParaRPr lang="en-MY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Topic</a:t>
                      </a:r>
                      <a:endParaRPr lang="en-MY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Remark</a:t>
                      </a:r>
                      <a:endParaRPr lang="en-MY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8924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Quicksand" panose="00000500000000000000" pitchFamily="2" charset="0"/>
                        </a:rPr>
                        <a:t>7</a:t>
                      </a:r>
                      <a:endParaRPr lang="en-MY" sz="1200" dirty="0">
                        <a:latin typeface="Quicksand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Quicksand" panose="00000500000000000000" pitchFamily="2" charset="0"/>
                        </a:rPr>
                        <a:t>24/10/2026, 11.00am</a:t>
                      </a:r>
                      <a:endParaRPr lang="en-MY" sz="1200" dirty="0">
                        <a:latin typeface="Quicksand" panose="00000500000000000000" pitchFamily="2" charset="0"/>
                      </a:endParaRPr>
                    </a:p>
                    <a:p>
                      <a:endParaRPr lang="en-MY" sz="1200" dirty="0">
                        <a:latin typeface="Quicksand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Quicksand" panose="00000500000000000000" pitchFamily="2" charset="0"/>
                        </a:rPr>
                        <a:t>CMOS Sensor Design, SCSD 501 01</a:t>
                      </a:r>
                      <a:endParaRPr lang="en-MY" sz="1200" dirty="0">
                        <a:latin typeface="Quicksand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af-ZA" sz="1200">
                          <a:effectLst/>
                          <a:latin typeface="Quicksand" panose="00000500000000000000" pitchFamily="2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 </a:t>
                      </a:r>
                      <a:r>
                        <a:rPr lang="en-MY" sz="1200">
                          <a:solidFill>
                            <a:srgbClr val="000000"/>
                          </a:solidFill>
                          <a:effectLst/>
                          <a:latin typeface="Quicksand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 and Methodology</a:t>
                      </a:r>
                      <a:endParaRPr lang="en-MY" sz="1200">
                        <a:effectLst/>
                        <a:latin typeface="Quicksand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n-MY" sz="1200">
                          <a:solidFill>
                            <a:srgbClr val="000000"/>
                          </a:solidFill>
                          <a:effectLst/>
                          <a:latin typeface="Quicksand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-Technology or process for CMOS Image/colour sensor and fingerprint sensor, Photosensitive devices, Design Methodology		</a:t>
                      </a:r>
                      <a:endParaRPr lang="en-MY" sz="1200">
                        <a:effectLst/>
                        <a:latin typeface="Quicksand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Quicksand" panose="00000500000000000000" pitchFamily="2" charset="0"/>
                        </a:rPr>
                        <a:t>2-hour</a:t>
                      </a:r>
                      <a:endParaRPr lang="en-MY" sz="1200" dirty="0">
                        <a:latin typeface="Quicksand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664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Quicksand" panose="00000500000000000000" pitchFamily="2" charset="0"/>
                        </a:rPr>
                        <a:t>8</a:t>
                      </a:r>
                      <a:endParaRPr lang="en-MY" sz="1200" dirty="0">
                        <a:latin typeface="Quicksand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Quicksand" panose="00000500000000000000" pitchFamily="2" charset="0"/>
                        </a:rPr>
                        <a:t>31/10/2026, 11.00am</a:t>
                      </a:r>
                      <a:endParaRPr lang="en-MY" sz="1200" dirty="0">
                        <a:latin typeface="Quicksand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Quicksand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CMOS Sensor Design, SCSD 501 01</a:t>
                      </a:r>
                      <a:endParaRPr kumimoji="0" lang="en-MY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Quicksand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af-ZA" sz="1200">
                          <a:effectLst/>
                          <a:latin typeface="Quicksand" panose="00000500000000000000" pitchFamily="2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 </a:t>
                      </a:r>
                      <a:r>
                        <a:rPr lang="en-MY" sz="1200">
                          <a:solidFill>
                            <a:srgbClr val="000000"/>
                          </a:solidFill>
                          <a:effectLst/>
                          <a:latin typeface="Quicksand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CMOS Color sensor</a:t>
                      </a:r>
                      <a:endParaRPr lang="en-MY" sz="1200">
                        <a:effectLst/>
                        <a:latin typeface="Quicksand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n-MY" sz="1200">
                          <a:solidFill>
                            <a:srgbClr val="000000"/>
                          </a:solidFill>
                          <a:effectLst/>
                          <a:latin typeface="Quicksand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-Transimpendance Amplifier Topology, Current to Frequency Topology                                                                                                                                                             Oper</a:t>
                      </a:r>
                      <a:endParaRPr lang="en-MY" sz="1200">
                        <a:effectLst/>
                        <a:latin typeface="Quicksand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n-MY" sz="1200">
                          <a:solidFill>
                            <a:srgbClr val="000000"/>
                          </a:solidFill>
                          <a:effectLst/>
                          <a:latin typeface="Quicksand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-Current Integration Topology                                                             -Layout Technique                                                                                                                         - Datasheet of Color Sensor (ADJD-S313-QR999, APDS-9253-001-DS), Patent (Method and apparatus for integrating a quantity of light, US8232512B2)	</a:t>
                      </a:r>
                      <a:endParaRPr lang="en-MY" sz="1200">
                        <a:effectLst/>
                        <a:latin typeface="Quicksand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af-ZA" sz="1200">
                          <a:effectLst/>
                          <a:latin typeface="Quicksand" panose="00000500000000000000" pitchFamily="2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MY" sz="1200">
                        <a:effectLst/>
                        <a:latin typeface="Quicksand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200" dirty="0">
                          <a:latin typeface="Quicksand" panose="00000500000000000000" pitchFamily="2" charset="0"/>
                        </a:rPr>
                        <a:t>5-hour (Lab/Practical)</a:t>
                      </a:r>
                      <a:endParaRPr lang="en-MY" sz="1200" dirty="0">
                        <a:latin typeface="Quicksand" panose="00000500000000000000" pitchFamily="2" charset="0"/>
                      </a:endParaRPr>
                    </a:p>
                    <a:p>
                      <a:endParaRPr lang="en-MY" sz="1200" dirty="0">
                        <a:latin typeface="Quicksand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2474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Quicksand" panose="00000500000000000000" pitchFamily="2" charset="0"/>
                        </a:rPr>
                        <a:t>9</a:t>
                      </a:r>
                      <a:endParaRPr lang="en-MY" sz="1200" dirty="0">
                        <a:latin typeface="Quicksand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Quicksand" panose="00000500000000000000" pitchFamily="2" charset="0"/>
                        </a:rPr>
                        <a:t>7/11/2026, 11.00am</a:t>
                      </a:r>
                      <a:endParaRPr lang="en-MY" sz="1200" dirty="0">
                        <a:latin typeface="Quicksand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Quicksand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CMOS Sensor Design, SCSD 501 01</a:t>
                      </a:r>
                      <a:endParaRPr kumimoji="0" lang="en-MY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Quicksand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af-ZA" sz="1200">
                          <a:effectLst/>
                          <a:latin typeface="Quicksand" panose="00000500000000000000" pitchFamily="2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 </a:t>
                      </a:r>
                      <a:r>
                        <a:rPr lang="en-MY" sz="1200">
                          <a:solidFill>
                            <a:srgbClr val="000000"/>
                          </a:solidFill>
                          <a:effectLst/>
                          <a:latin typeface="Quicksand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CMOS Image Sensor</a:t>
                      </a:r>
                      <a:endParaRPr lang="en-MY" sz="1200">
                        <a:effectLst/>
                        <a:latin typeface="Quicksand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n-MY" sz="1200">
                          <a:solidFill>
                            <a:srgbClr val="000000"/>
                          </a:solidFill>
                          <a:effectLst/>
                          <a:latin typeface="Quicksand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-CMOS Image Sensor Architecture                                                                                                                                                                                                                                            </a:t>
                      </a:r>
                      <a:endParaRPr lang="en-MY" sz="1200">
                        <a:effectLst/>
                        <a:latin typeface="Quicksand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n-MY" sz="1200">
                          <a:solidFill>
                            <a:srgbClr val="000000"/>
                          </a:solidFill>
                          <a:effectLst/>
                          <a:latin typeface="Quicksand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-Analog Pixel Sensor, Digital Pixel Sensor, Low Power and Low Noise Technique, Layout Technique                                                             	</a:t>
                      </a:r>
                      <a:endParaRPr lang="en-MY" sz="1200">
                        <a:effectLst/>
                        <a:latin typeface="Quicksand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Quicksand" panose="00000500000000000000" pitchFamily="2" charset="0"/>
                        </a:rPr>
                        <a:t>2-hour</a:t>
                      </a:r>
                      <a:endParaRPr lang="en-MY" sz="1200" dirty="0">
                        <a:latin typeface="Quicksand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0376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Quicksand" panose="00000500000000000000" pitchFamily="2" charset="0"/>
                        </a:rPr>
                        <a:t>10</a:t>
                      </a:r>
                      <a:endParaRPr lang="en-MY" sz="1200" dirty="0">
                        <a:latin typeface="Quicksand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Quicksand" panose="00000500000000000000" pitchFamily="2" charset="0"/>
                        </a:rPr>
                        <a:t>14/11/2026, 11.00am</a:t>
                      </a:r>
                      <a:endParaRPr lang="en-MY" sz="1200" dirty="0">
                        <a:latin typeface="Quicksand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Quicksand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CMOS Sensor Design, SCSD 501 01</a:t>
                      </a:r>
                      <a:endParaRPr kumimoji="0" lang="en-MY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Quicksand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af-ZA" sz="1200">
                          <a:effectLst/>
                          <a:latin typeface="Quicksand" panose="00000500000000000000" pitchFamily="2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 </a:t>
                      </a:r>
                      <a:r>
                        <a:rPr lang="en-MY" sz="1200">
                          <a:solidFill>
                            <a:srgbClr val="000000"/>
                          </a:solidFill>
                          <a:effectLst/>
                          <a:latin typeface="Quicksand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CMOS Capacitive Sensor</a:t>
                      </a:r>
                      <a:endParaRPr lang="en-MY" sz="1200">
                        <a:effectLst/>
                        <a:latin typeface="Quicksand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n-MY" sz="1200">
                          <a:solidFill>
                            <a:srgbClr val="000000"/>
                          </a:solidFill>
                          <a:effectLst/>
                          <a:latin typeface="Quicksand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-Capacitive Touch Screen Types                                                                   -Readout Circuits                                                                      -Sigma-delta Modulator-Based Capacitance Sensor.</a:t>
                      </a:r>
                      <a:endParaRPr lang="en-MY" sz="1200">
                        <a:effectLst/>
                        <a:latin typeface="Quicksand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af-ZA" sz="1200">
                          <a:effectLst/>
                          <a:latin typeface="Quicksand" panose="00000500000000000000" pitchFamily="2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MY" sz="1200">
                        <a:effectLst/>
                        <a:latin typeface="Quicksand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Quicksand" panose="00000500000000000000" pitchFamily="2" charset="0"/>
                        </a:rPr>
                        <a:t>2-hour</a:t>
                      </a:r>
                      <a:endParaRPr lang="en-MY" sz="1200" dirty="0">
                        <a:latin typeface="Quicksand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7440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Quicksand" panose="00000500000000000000" pitchFamily="2" charset="0"/>
                        </a:rPr>
                        <a:t>11</a:t>
                      </a:r>
                      <a:endParaRPr lang="en-MY" sz="1200" dirty="0">
                        <a:latin typeface="Quicksand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Quicksand" panose="00000500000000000000" pitchFamily="2" charset="0"/>
                        </a:rPr>
                        <a:t>21/11/2026, 11.00am</a:t>
                      </a:r>
                      <a:endParaRPr lang="en-MY" sz="1200" dirty="0">
                        <a:latin typeface="Quicksand" panose="00000500000000000000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Quicksand" panose="00000500000000000000" pitchFamily="2" charset="0"/>
                          <a:ea typeface="+mn-ea"/>
                          <a:cs typeface="+mn-cs"/>
                          <a:sym typeface="Arial"/>
                        </a:rPr>
                        <a:t>CMOS Sensor Design, SCSD 501 01</a:t>
                      </a:r>
                      <a:endParaRPr kumimoji="0" lang="en-MY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Quicksand" panose="00000500000000000000" pitchFamily="2" charset="0"/>
                        <a:ea typeface="+mn-ea"/>
                        <a:cs typeface="+mn-cs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r>
                        <a:rPr lang="af-ZA" sz="1200" dirty="0">
                          <a:effectLst/>
                          <a:latin typeface="Quicksand" panose="00000500000000000000" pitchFamily="2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 </a:t>
                      </a:r>
                      <a:r>
                        <a:rPr lang="en-MY" sz="1200" dirty="0">
                          <a:solidFill>
                            <a:srgbClr val="000000"/>
                          </a:solidFill>
                          <a:effectLst/>
                          <a:latin typeface="Quicksand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CMOS Fingerprint Sensor</a:t>
                      </a:r>
                      <a:endParaRPr lang="en-MY" sz="1200" dirty="0">
                        <a:effectLst/>
                        <a:latin typeface="Quicksand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n-MY" sz="1200" dirty="0">
                          <a:solidFill>
                            <a:srgbClr val="000000"/>
                          </a:solidFill>
                          <a:effectLst/>
                          <a:latin typeface="Quicksand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-piezoelectric micromachined ultrasonic</a:t>
                      </a:r>
                      <a:endParaRPr lang="en-MY" sz="1200" dirty="0">
                        <a:effectLst/>
                        <a:latin typeface="Quicksand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lnSpc>
                          <a:spcPct val="107000"/>
                        </a:lnSpc>
                      </a:pPr>
                      <a:r>
                        <a:rPr lang="en-MY" sz="1200" dirty="0">
                          <a:solidFill>
                            <a:srgbClr val="000000"/>
                          </a:solidFill>
                          <a:effectLst/>
                          <a:latin typeface="Quicksand" panose="00000500000000000000" pitchFamily="2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transducer (PMUT)                                                           - Capacitive Fingerprint Sensing Methods                                                                                                                                                                                            	</a:t>
                      </a:r>
                      <a:endParaRPr lang="en-MY" sz="1200" dirty="0">
                        <a:effectLst/>
                        <a:latin typeface="Quicksand" panose="00000500000000000000" pitchFamily="2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Quicksand" panose="00000500000000000000" pitchFamily="2" charset="0"/>
                        </a:rPr>
                        <a:t>2-hour</a:t>
                      </a:r>
                      <a:endParaRPr lang="en-MY" sz="1200" dirty="0">
                        <a:latin typeface="Quicksand" panose="000005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7596875"/>
                  </a:ext>
                </a:extLst>
              </a:tr>
            </a:tbl>
          </a:graphicData>
        </a:graphic>
      </p:graphicFrame>
      <p:sp>
        <p:nvSpPr>
          <p:cNvPr id="3" name="Text Box 2">
            <a:extLst>
              <a:ext uri="{FF2B5EF4-FFF2-40B4-BE49-F238E27FC236}">
                <a16:creationId xmlns:a16="http://schemas.microsoft.com/office/drawing/2014/main" id="{3D11F69C-7A92-4980-AABB-1F83BEBE15B6}"/>
              </a:ext>
            </a:extLst>
          </p:cNvPr>
          <p:cNvSpPr txBox="1"/>
          <p:nvPr/>
        </p:nvSpPr>
        <p:spPr>
          <a:xfrm>
            <a:off x="2065077" y="9438309"/>
            <a:ext cx="15255710" cy="174092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0"/>
              </a:lnSpc>
              <a:spcBef>
                <a:spcPct val="20000"/>
              </a:spcBef>
            </a:pPr>
            <a:endParaRPr sz="3300" b="1" dirty="0">
              <a:solidFill>
                <a:schemeClr val="bg1"/>
              </a:solidFill>
              <a:latin typeface="Calibri" panose="020F0502020204030204" charset="0"/>
            </a:endParaRPr>
          </a:p>
          <a:p>
            <a:pPr>
              <a:spcBef>
                <a:spcPct val="20000"/>
              </a:spcBef>
            </a:pPr>
            <a:r>
              <a:rPr lang="en-US" sz="2800" b="1" dirty="0">
                <a:latin typeface="Quicksand" panose="020B0604020202020204"/>
                <a:hlinkClick r:id="rId4"/>
              </a:rPr>
              <a:t>https://github.com/ArjunaMarzuki/Semiconductor-Chip-and-Sensor-Design</a:t>
            </a:r>
            <a:endParaRPr lang="en-US" sz="2800" b="1" dirty="0">
              <a:latin typeface="Quicksand" panose="020B0604020202020204"/>
            </a:endParaRPr>
          </a:p>
          <a:p>
            <a:pPr>
              <a:spcBef>
                <a:spcPct val="20000"/>
              </a:spcBef>
            </a:pPr>
            <a:endParaRPr lang="en-US" sz="2800" b="1" dirty="0">
              <a:latin typeface="Quicksand" panose="020B0604020202020204"/>
            </a:endParaRPr>
          </a:p>
          <a:p>
            <a:pPr>
              <a:spcBef>
                <a:spcPct val="20000"/>
              </a:spcBef>
            </a:pPr>
            <a:endParaRPr sz="3300" b="1" dirty="0">
              <a:latin typeface="Quicksand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313356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176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5"/>
          <p:cNvPicPr preferRelativeResize="0"/>
          <p:nvPr/>
        </p:nvPicPr>
        <p:blipFill rotWithShape="1">
          <a:blip r:embed="rId3">
            <a:alphaModFix/>
          </a:blip>
          <a:srcRect l="59800"/>
          <a:stretch/>
        </p:blipFill>
        <p:spPr>
          <a:xfrm>
            <a:off x="8624363" y="6310414"/>
            <a:ext cx="1562824" cy="17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>
            <a:spLocks noGrp="1"/>
          </p:cNvSpPr>
          <p:nvPr>
            <p:ph type="ctrTitle"/>
          </p:nvPr>
        </p:nvSpPr>
        <p:spPr>
          <a:xfrm>
            <a:off x="5611975" y="3394788"/>
            <a:ext cx="7587600" cy="2201700"/>
          </a:xfrm>
          <a:prstGeom prst="rect">
            <a:avLst/>
          </a:prstGeom>
        </p:spPr>
        <p:txBody>
          <a:bodyPr spcFirstLastPara="1" wrap="square" lIns="182850" tIns="182850" rIns="182850" bIns="18285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Thank you!</a:t>
            </a:r>
            <a:endParaRPr b="1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76" name="Google Shape;7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65963" y="1548962"/>
            <a:ext cx="2279625" cy="113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9C0F6E0219E654992E062612CB58BAB" ma:contentTypeVersion="16" ma:contentTypeDescription="Create a new document." ma:contentTypeScope="" ma:versionID="7e10a120277ee7d20963d4574e53b5ce">
  <xsd:schema xmlns:xsd="http://www.w3.org/2001/XMLSchema" xmlns:xs="http://www.w3.org/2001/XMLSchema" xmlns:p="http://schemas.microsoft.com/office/2006/metadata/properties" xmlns:ns3="4c677630-f4c8-4715-8b53-8367f253f10e" xmlns:ns4="1598d3b2-d583-42df-8e87-4391cd31083b" targetNamespace="http://schemas.microsoft.com/office/2006/metadata/properties" ma:root="true" ma:fieldsID="f5e81f2c82e8078bb2a056c7db1e4985" ns3:_="" ns4:_="">
    <xsd:import namespace="4c677630-f4c8-4715-8b53-8367f253f10e"/>
    <xsd:import namespace="1598d3b2-d583-42df-8e87-4391cd31083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Location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677630-f4c8-4715-8b53-8367f253f1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98d3b2-d583-42df-8e87-4391cd31083b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c677630-f4c8-4715-8b53-8367f253f10e" xsi:nil="true"/>
  </documentManagement>
</p:properties>
</file>

<file path=customXml/itemProps1.xml><?xml version="1.0" encoding="utf-8"?>
<ds:datastoreItem xmlns:ds="http://schemas.openxmlformats.org/officeDocument/2006/customXml" ds:itemID="{3B011DFF-37B3-44A1-AB38-FF8047F2411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5EE161D-8155-49D8-9C29-BAE7E8042FB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c677630-f4c8-4715-8b53-8367f253f10e"/>
    <ds:schemaRef ds:uri="1598d3b2-d583-42df-8e87-4391cd31083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1016E3E-797C-4E27-B044-0CF100B3ABCC}">
  <ds:schemaRefs>
    <ds:schemaRef ds:uri="4c677630-f4c8-4715-8b53-8367f253f10e"/>
    <ds:schemaRef ds:uri="http://purl.org/dc/dcmitype/"/>
    <ds:schemaRef ds:uri="1598d3b2-d583-42df-8e87-4391cd31083b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392</TotalTime>
  <Words>488</Words>
  <Application>Microsoft Office PowerPoint</Application>
  <PresentationFormat>Custom</PresentationFormat>
  <Paragraphs>107</Paragraphs>
  <Slides>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Quicksand Light</vt:lpstr>
      <vt:lpstr>Calibri</vt:lpstr>
      <vt:lpstr>Arial</vt:lpstr>
      <vt:lpstr>Nunito</vt:lpstr>
      <vt:lpstr>Quicksand</vt:lpstr>
      <vt:lpstr>Simple Light</vt:lpstr>
      <vt:lpstr>Semiconductor Chip and Sensor Design –Slide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Mohamad Hushnie Bin Haron</dc:creator>
  <cp:lastModifiedBy>Arjuna Bin Marzuki</cp:lastModifiedBy>
  <cp:revision>28</cp:revision>
  <dcterms:modified xsi:type="dcterms:W3CDTF">2026-09-02T08:42:24Z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0x01010059C0F6E0219E654992E062612CB58BAB</vt:lpwstr>
  </property>
</Properties>
</file>